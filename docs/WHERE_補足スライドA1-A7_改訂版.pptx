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22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実証判断のための詳細設計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面談で深掘りを受けた項目のみ提示する補足資料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6517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2651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プラン区別設計（案）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4688" y="2651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既存企業向けプランとのカニバリゼーション防止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0040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6192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工務店収支モデル（P&amp;L）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04688" y="3200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管理単体ではなく転換込みで成立する構造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7490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3749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ファネル3ケース試算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04688" y="37490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初年度の価値は「管理在庫」と「買えないデータ」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2976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2976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36192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KPIと事前合意の判断基準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0468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 ／ 調整 ／ 再考 の明確な基準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4632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84632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36192" y="4846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収益スキームの法的整理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504688" y="48463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工事紹介料と媒介報酬の分離、データ帰属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39496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9A63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39496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36192" y="5394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協議事項チェックリスト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504688" y="5394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実証前に共同で決めるべき具体的項目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0899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本資料の数値区分　［実績］確定した事実・公表値　／　［協議中］両社協議で決定する条件　／　［仮定・試算］実証で検証するシミュレーション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既存プランと競合しない、別チャネルとしての区別設計（案）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51114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現行・企業向け標準プラン（直販）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地域工務店ネットワークプラン（新設案）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不動産・建設等の法人（制限なし）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ゆずりえ認定工務店のみ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（経営者面談・認定資格修了が必須条件）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利用範囲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全国・制限なし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自社商圏の協定市区町村に限定（ドミナント運用）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フル機能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機能限定版（探索・登記取得・台帳・巡回報告連携）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ID数・サポート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 ID（追加可）／週次MTG・高タッチ運用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IDまで／セルフサーブ＋ゆずりえ本部一次対応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価格体系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導入75万円 ＋ 月額30万円（税別）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月額3.3万円程度 ＋ 成約時 工事金額の3〜5％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＋ 登記・DM実費［協議中］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882896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4937760"/>
            <a:ext cx="103994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カニバリ防止制限】直近1年以内にWHERE社と商談・取引履歴がある企業は、新プランへの移行を禁止する制限ルールを合意設計する。「値下げ」ではなく「既存価格では届かない小規模工務店市場へのチャネル追加」であ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P&amp;L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工務店の収支 — 管理単体ではなく、工事転換込みで成立する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A8761C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仮定・試算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モデルケース：管理20棟・1年目（管理料 月8,000円／棟・100％工務店還元の仮定）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7739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管理料収入（8,000円 × 20棟 × 12か月）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15807" y="1773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＋192.0万円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2311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巡回原価（移動・作業・報告 ≒ 2.4h × 3,000円/h × 20棟 × 12か月）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15807" y="22311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▲174.0万円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6883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WHERE月額システム料（3.3万円 × 12か月）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15807" y="26883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▲39.6万円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145536"/>
            <a:ext cx="9594799" cy="402336"/>
          </a:xfrm>
          <a:prstGeom prst="roundRect">
            <a:avLst>
              <a:gd name="adj" fmla="val 18182"/>
            </a:avLst>
          </a:prstGeom>
          <a:solidFill>
            <a:srgbClr val="FBF0E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455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3B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管理単体の年間収支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15807" y="31455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33B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▲21.6万円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36027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小修繕への転換　年4件（粗利4.5万円/件）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15807" y="36027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＋18.0万円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40599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再生・改修工事への転換　年1件（工事300万円・粗利25％）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15807" y="4059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＋75.0万円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517136"/>
            <a:ext cx="9594799" cy="402336"/>
          </a:xfrm>
          <a:prstGeom prst="roundRect">
            <a:avLst>
              <a:gd name="adj" fmla="val 18182"/>
            </a:avLst>
          </a:prstGeom>
          <a:solidFill>
            <a:srgbClr val="EEF6F1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517136"/>
            <a:ext cx="7491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転換込みの年間収支（＋将来の解体・新築・売却案件の芽）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15807" y="45171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＋71.4万円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381183" y="1773936"/>
            <a:ext cx="1243584" cy="3145536"/>
          </a:xfrm>
          <a:prstGeom prst="roundRect">
            <a:avLst>
              <a:gd name="adj" fmla="val 5882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81183" y="237744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損益分岐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381183" y="268833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A6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約7〜8棟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81183" y="316382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転換込み試算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5065776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FCF3E3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120640"/>
            <a:ext cx="103994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・空き地管理の単体は、SUUMO注文住宅カウンター等と同様に「持ち出し（広告費・投資）」の設計。だからこそ、巡回から早期に変化を捉えて修繕・解体・新築へつなげる転換設計が生命線になる。工務店にとって管理は「広告費ゼロで地域の土地とオーナーを押さえる営業活動」である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— 3 CASES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初年度の成果は「管理在庫」と「買えないデータ」の形成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A8761C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仮定・試算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87752"/>
                <a:gridCol w="2587752"/>
                <a:gridCol w="25877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ファネル段階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保守ケース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標準ケース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強気ケース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A7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候補抽出（衛星・AI）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4,000件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4,000件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4,000件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所有者特定・DM到達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2,800件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2,800件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2,800件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反応率 → 商談件数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0.8％ → 22件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1.5％ → 42件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3.0％ → 84件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管理契約率 → 契約棟数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30％ → 7棟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40％ → 17棟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50％ → 42棟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年内の工事転換件数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15％ → 1件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20％ → 3件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30％ → 13件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平均工事単価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800万円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WHERE成果収益（4％時）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約8万円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76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約60万円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約416万円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169664"/>
            <a:ext cx="11057839" cy="1133856"/>
          </a:xfrm>
          <a:prstGeom prst="roundRect">
            <a:avLst>
              <a:gd name="adj" fmla="val 6452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4315968"/>
            <a:ext cx="103263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年度のWHERE成果収入は限定的。本実証の真の価値は、2年目以降の転換母数となる「管理契約棟数」と、競合が後から購入できない「建物内部・時系列劣化・所有者意向のデータベース（買えないデータ）」を自社に蓄積することにある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46811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年間1億円規模は「100社展開・複数年後」のシナリオ。本実証は、その前提となる反応率・契約率・転換率を実測して置き換えるために行う。数値はすべて仮定。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DECISION RULE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KPI目標と、先に合意しておく判断基準（案）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KPI目標（標準ケース基準・既存4地域合計）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82496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Q2末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Q4末（1年）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6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管理契約棟数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活用提案件数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工事転換率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20％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工事成約件数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WHERE成果収益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約60万円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解約率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0％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10％未満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巡回報告の遅延率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5％未満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5％未満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オーナー満足度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6708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322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80％以上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01968" y="1371600"/>
            <a:ext cx="5022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1年後の判断基準（実証開始前に両社で合意）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01968" y="1682496"/>
            <a:ext cx="5022799" cy="987552"/>
          </a:xfrm>
          <a:prstGeom prst="roundRect">
            <a:avLst>
              <a:gd name="adj" fmla="val 7407"/>
            </a:avLst>
          </a:prstGeom>
          <a:solidFill>
            <a:srgbClr val="EEF6F1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21424" y="1883664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2C7A4B"/>
          </a:solidFill>
          <a:ln/>
        </p:spPr>
      </p:sp>
      <p:sp>
        <p:nvSpPr>
          <p:cNvPr id="13" name="Text 10"/>
          <p:cNvSpPr/>
          <p:nvPr/>
        </p:nvSpPr>
        <p:spPr>
          <a:xfrm>
            <a:off x="6821424" y="1883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82128" y="1810512"/>
            <a:ext cx="3523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2年目から全国展開へ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82128" y="2103120"/>
            <a:ext cx="35231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管理契約17棟以上 かつ 工事転換率20％以上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かつ 解約率10％未満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01968" y="2798064"/>
            <a:ext cx="5022799" cy="987552"/>
          </a:xfrm>
          <a:prstGeom prst="roundRect">
            <a:avLst>
              <a:gd name="adj" fmla="val 7407"/>
            </a:avLst>
          </a:prstGeom>
          <a:solidFill>
            <a:srgbClr val="FDF8E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21424" y="2999232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A8761C"/>
          </a:solidFill>
          <a:ln/>
        </p:spPr>
      </p:sp>
      <p:sp>
        <p:nvSpPr>
          <p:cNvPr id="18" name="Text 15"/>
          <p:cNvSpPr/>
          <p:nvPr/>
        </p:nvSpPr>
        <p:spPr>
          <a:xfrm>
            <a:off x="6821424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82128" y="2926080"/>
            <a:ext cx="3523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条件を見直して実証延長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82128" y="3218688"/>
            <a:ext cx="35231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管理契約10〜17棟。料金・エリア・DM設計・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巡回品質を再設計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01968" y="3913632"/>
            <a:ext cx="5022799" cy="987552"/>
          </a:xfrm>
          <a:prstGeom prst="roundRect">
            <a:avLst>
              <a:gd name="adj" fmla="val 7407"/>
            </a:avLst>
          </a:prstGeom>
          <a:solidFill>
            <a:srgbClr val="FBF0EF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21424" y="4114800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A33B32"/>
          </a:solidFill>
          <a:ln/>
        </p:spPr>
      </p:sp>
      <p:sp>
        <p:nvSpPr>
          <p:cNvPr id="23" name="Text 20"/>
          <p:cNvSpPr/>
          <p:nvPr/>
        </p:nvSpPr>
        <p:spPr>
          <a:xfrm>
            <a:off x="6821424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再考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82128" y="4041648"/>
            <a:ext cx="3523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3B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撤退・事業モデル再設計を協議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82128" y="4334256"/>
            <a:ext cx="35231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管理契約10棟未満、または解約率25％超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（ダウンサイドは限定的）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5029200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" y="5084064"/>
            <a:ext cx="1039947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求めるのは成功の約束ではなく、判断できる設計。目標値と撤退基準を実証開始前に両社で合意し、四半期レビューで進捗と前提のズレを確認する。数値は標準ケースに基づく叩き台。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「工事紹介料」と「媒介報酬」の分離、そしてデータ帰属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A33B32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要専門家確認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426464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72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93466" y="159105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11" name="Text 9"/>
          <p:cNvSpPr/>
          <p:nvPr/>
        </p:nvSpPr>
        <p:spPr>
          <a:xfrm>
            <a:off x="2893466" y="159105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適用可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920240"/>
            <a:ext cx="303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工事紹介料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2286000"/>
            <a:ext cx="30397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修繕・再生・解体・新築の建設工事の紹介手数料。宅建業免許は不要で、料率は当事者間の合意で設定できる。本実証の成果報酬3〜5％はこの範囲を基本とする。［協議中］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1426464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5962" y="1572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64757" y="159105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A87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664757" y="159105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要確認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5962" y="1920240"/>
            <a:ext cx="303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不動産媒介報酬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5962" y="2286000"/>
            <a:ext cx="30397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売買・賃貸の仲介は宅建業免許が必須で、報酬は上限が法定（売買はおおむね3％＋6万円等）。WHEREの免許保有状況を確認のうえ、紹介料とは厳密に分離した別スキームとして設計する。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9509" y="1426464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7253" y="15727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436047" y="159105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4A5A7A"/>
          </a:solidFill>
          <a:ln/>
        </p:spPr>
      </p:sp>
      <p:sp>
        <p:nvSpPr>
          <p:cNvPr id="23" name="Text 21"/>
          <p:cNvSpPr/>
          <p:nvPr/>
        </p:nvSpPr>
        <p:spPr>
          <a:xfrm>
            <a:off x="10436047" y="159105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要協議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47253" y="1920240"/>
            <a:ext cx="3039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管理受託・契約関係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47253" y="2286000"/>
            <a:ext cx="30397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国交省「不動産業による空き家管理受託のガイドライン」に準拠。鍵・家財・責任範囲・保険・緊急時対応を契約書に明記する。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694176"/>
            <a:ext cx="11057839" cy="1975104"/>
          </a:xfrm>
          <a:prstGeom prst="roundRect">
            <a:avLst>
              <a:gd name="adj" fmla="val 3704"/>
            </a:avLst>
          </a:prstGeom>
          <a:solidFill>
            <a:srgbClr val="13224A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38770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9A63C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38770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95728" y="38770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データ帰属の整理 —「買えないデータ」の保護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6112" y="4261104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個人情報（所有者情報）の主体は所有者本人。管理契約書に利用目的を特定して明記する。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6112" y="4590288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蓄積される物件台帳データ（巡回写真・建物状態・履歴・意向）の保有権はWHEREに帰属する。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" y="4919472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工務店およびゆずりえ本部は、巡回・研修など業務範囲内でのみ利用する。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6112" y="5248656"/>
            <a:ext cx="103994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－　競合に対する強固な参入障壁として保護。帰属を曖昧にしたまま実証を始めないことが双方の利益。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5797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契約書式は弁護士・宅建士の確認を経て確定する。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863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CHECKLIST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3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実証前に共同で決めたい事項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795967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3224A"/>
          </a:solidFill>
          <a:ln/>
        </p:spPr>
      </p:sp>
      <p:sp>
        <p:nvSpPr>
          <p:cNvPr id="5" name="Text 3"/>
          <p:cNvSpPr/>
          <p:nvPr/>
        </p:nvSpPr>
        <p:spPr>
          <a:xfrm>
            <a:off x="9795967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補足資料｜WHERE × ゆずりえ 空き家管理収益モデル（叩き台）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426464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609344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322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93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対象地域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02736" y="1554480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既存4地域（3〜4市）の対象確定（人口密度・空き家数・工務店から片道30〜40分圏）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2736" y="1865376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参加工務店と想定所有者像の共同選定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59152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542032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3224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システム連携（開発負担ゼロ）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02736" y="2487168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実証段階では追加API開発を行わず、CSV連携・手動運用で開始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02736" y="2798064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事業性が確認された段階でシステム投資を判断する段階設計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29184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47472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3224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契約・料金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02736" y="3419856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WHEREが契約する管理契約書と所有者向け料金（月8,000円台の妥当性）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02736" y="3730752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工務店への委託範囲・支払額（管理料の90〜100％還元）・保険・事故責任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224528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40740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3224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407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収益・商流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02736" y="4352544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WHERE発見案件（適用）と工務店自己開拓案件（除外）のシステム区分ルール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02736" y="4663440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不動産売買・賃貸へ移行する際のWHEREの役割と成果報酬3〜5％の適用条件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157216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 w="12700">
            <a:solidFill>
              <a:srgbClr val="E3E9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5340096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3224A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53400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法務・実証条件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02736" y="5285232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弁護士・宅建士による契約書式および個人情報取扱いルールの確認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02736" y="5596128"/>
            <a:ext cx="7765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実証期間・対象件数・KPI目標・評価方法と、継続／拡大の判断基準（A-5）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上記が固まった時点で、実証契約書と共通KPIシートを両社で確定する。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2026-07-31T04:58:47Z</dcterms:created>
  <dcterms:modified xsi:type="dcterms:W3CDTF">2026-07-31T04:58:47Z</dcterms:modified>
</cp:coreProperties>
</file>