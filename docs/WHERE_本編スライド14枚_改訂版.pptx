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371600"/>
            <a:ext cx="5120640" cy="5120640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2194560" cy="2194560"/>
          </a:xfrm>
          <a:prstGeom prst="ellipse">
            <a:avLst/>
          </a:prstGeom>
          <a:solidFill>
            <a:srgbClr val="E9A63C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× ゆずりえ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173736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宇宙から見つけ、</a:t>
            </a:r>
            <a:endParaRPr lang="en-US" sz="4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管理でつなぎ、</a:t>
            </a:r>
            <a:endParaRPr lang="en-US" sz="4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地域の収益へ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422452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6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空き家管理を起点とした建築・不動産収益モデル｜実証のご提案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4754880"/>
            <a:ext cx="4114800" cy="457200"/>
          </a:xfrm>
          <a:prstGeom prst="roundRect">
            <a:avLst>
              <a:gd name="adj" fmla="val 50000"/>
            </a:avLst>
          </a:prstGeom>
          <a:solidFill>
            <a:srgbClr val="22345F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既存4地域（3〜4市）・1年間の限定実証案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株式会社WHERE 御中　／　株式会社Aether ゆずりえプロジェクト　　2026年7月｜DRAFT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発見した空き家を、継続収益を生む管理資産へ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WHERE × ゆずりえ｜空き家管理収益モデル（叩き台）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93247" y="64190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A6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2558720" cy="2331720"/>
          </a:xfrm>
          <a:prstGeom prst="roundRect">
            <a:avLst>
              <a:gd name="adj" fmla="val 3137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37360"/>
            <a:ext cx="384048" cy="384048"/>
          </a:xfrm>
          <a:prstGeom prst="ellipse">
            <a:avLst/>
          </a:prstGeom>
          <a:solidFill>
            <a:srgbClr val="E9A63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267712"/>
            <a:ext cx="204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宇宙から発見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724912"/>
            <a:ext cx="2046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衛星・AIで候補地を自動抽出。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登記情報から所有者を特定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153080" y="248716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99968" y="1481328"/>
            <a:ext cx="2558720" cy="2331720"/>
          </a:xfrm>
          <a:prstGeom prst="roundRect">
            <a:avLst>
              <a:gd name="adj" fmla="val 3137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6000" y="1737360"/>
            <a:ext cx="384048" cy="384048"/>
          </a:xfrm>
          <a:prstGeom prst="ellipse">
            <a:avLst/>
          </a:prstGeom>
          <a:solidFill>
            <a:srgbClr val="E9A63C"/>
          </a:solidFill>
          <a:ln/>
        </p:spPr>
      </p:sp>
      <p:sp>
        <p:nvSpPr>
          <p:cNvPr id="14" name="Text 12"/>
          <p:cNvSpPr/>
          <p:nvPr/>
        </p:nvSpPr>
        <p:spPr>
          <a:xfrm>
            <a:off x="36560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6000" y="2267712"/>
            <a:ext cx="204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管理で関係を継続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6000" y="2724912"/>
            <a:ext cx="2046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売却提案から入らず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「まず建物を守りませんか」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86120" y="248716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33008" y="1481328"/>
            <a:ext cx="2558720" cy="2331720"/>
          </a:xfrm>
          <a:prstGeom prst="roundRect">
            <a:avLst>
              <a:gd name="adj" fmla="val 3137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89040" y="1737360"/>
            <a:ext cx="384048" cy="384048"/>
          </a:xfrm>
          <a:prstGeom prst="ellipse">
            <a:avLst/>
          </a:prstGeom>
          <a:solidFill>
            <a:srgbClr val="E9A63C"/>
          </a:solidFill>
          <a:ln/>
        </p:spPr>
      </p:sp>
      <p:sp>
        <p:nvSpPr>
          <p:cNvPr id="20" name="Text 18"/>
          <p:cNvSpPr/>
          <p:nvPr/>
        </p:nvSpPr>
        <p:spPr>
          <a:xfrm>
            <a:off x="64890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89040" y="2267712"/>
            <a:ext cx="204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地域で変化を発見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89040" y="2724912"/>
            <a:ext cx="2046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認定工務店が月1回巡回。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建物と意向の変化を捉える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819159" y="248716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066047" y="1481328"/>
            <a:ext cx="2558720" cy="2331720"/>
          </a:xfrm>
          <a:prstGeom prst="roundRect">
            <a:avLst>
              <a:gd name="adj" fmla="val 3137"/>
            </a:avLst>
          </a:prstGeom>
          <a:solidFill>
            <a:srgbClr val="FCF3E3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2079" y="1737360"/>
            <a:ext cx="384048" cy="384048"/>
          </a:xfrm>
          <a:prstGeom prst="ellipse">
            <a:avLst/>
          </a:prstGeom>
          <a:solidFill>
            <a:srgbClr val="E9A63C"/>
          </a:solidFill>
          <a:ln/>
        </p:spPr>
      </p:sp>
      <p:sp>
        <p:nvSpPr>
          <p:cNvPr id="26" name="Text 24"/>
          <p:cNvSpPr/>
          <p:nvPr/>
        </p:nvSpPr>
        <p:spPr>
          <a:xfrm>
            <a:off x="9322079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22079" y="2267712"/>
            <a:ext cx="204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工事・取引で収益化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322079" y="2724912"/>
            <a:ext cx="2046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修繕・再生・解体・新築へ。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成果報酬 3〜5％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4069080"/>
            <a:ext cx="11057839" cy="1417320"/>
          </a:xfrm>
          <a:prstGeom prst="roundRect">
            <a:avLst>
              <a:gd name="adj" fmla="val 5161"/>
            </a:avLst>
          </a:prstGeom>
          <a:solidFill>
            <a:srgbClr val="13224A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8408" y="4315968"/>
            <a:ext cx="1023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空き家・空き地管理は、小さな管理料を得るための事業ではない。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78408" y="4709160"/>
            <a:ext cx="102348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CE6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オーナーとの関係と土地情報を早期に押さえ、将来の建築・不動産需要を最も早く捉える「入口」である。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供給・需要・法改正の三つが、同時に揃っている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WHERE × ゆずりえ｜空き家管理収益モデル（叩き台）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93247" y="64190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A6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5391760" cy="1737360"/>
          </a:xfrm>
          <a:prstGeom prst="roundRect">
            <a:avLst>
              <a:gd name="adj" fmla="val 4211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27632"/>
            <a:ext cx="484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供給｜全国の空き家ストック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1938528"/>
            <a:ext cx="484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900.2</a:t>
            </a:r>
            <a:pPr indent="0" marL="0">
              <a:buNone/>
            </a:pPr>
            <a:r>
              <a:rPr lang="en-US" sz="15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万戸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41248" y="2560320"/>
            <a:ext cx="484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空き家率13.8％で過去最高。うち放置空き家（その他の住宅）は385万戸。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3008" y="1463040"/>
            <a:ext cx="5391760" cy="1737360"/>
          </a:xfrm>
          <a:prstGeom prst="roundRect">
            <a:avLst>
              <a:gd name="adj" fmla="val 4211"/>
            </a:avLst>
          </a:prstGeom>
          <a:solidFill>
            <a:srgbClr val="FCF3E3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7328" y="1627632"/>
            <a:ext cx="484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76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需要｜ゆずりえの確認済み入居希望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07328" y="1938528"/>
            <a:ext cx="484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</a:t>
            </a:r>
            <a:pPr indent="0" marL="0">
              <a:buNone/>
            </a:pPr>
            <a:r>
              <a:rPr lang="en-US" sz="15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組</a:t>
            </a:r>
            <a:pPr indent="0" marL="0">
              <a:buNone/>
            </a:pPr>
            <a:r>
              <a:rPr lang="en-US" sz="13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／ 3か月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507328" y="2560320"/>
            <a:ext cx="484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希望地域・希望家賃・家族条件まで確認済み。将来贈与型への具体的な関心。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" y="3364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A6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法改正による追い風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675888"/>
            <a:ext cx="5391760" cy="1691640"/>
          </a:xfrm>
          <a:prstGeom prst="roundRect">
            <a:avLst>
              <a:gd name="adj" fmla="val 4324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877056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13224A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87705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2023年 改正空家法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4315968"/>
            <a:ext cx="484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「管理不全空家」に指定・勧告されると、固定資産税の住宅用地特例（最大1/6軽減）が解除。税負担が最大6倍になる実損リスクが生まれ、オーナーが活用・処分を急ぐ動機が激増。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3008" y="3675888"/>
            <a:ext cx="5391760" cy="1691640"/>
          </a:xfrm>
          <a:prstGeom prst="roundRect">
            <a:avLst>
              <a:gd name="adj" fmla="val 4324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07328" y="3877056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13224A"/>
          </a:solidFill>
          <a:ln/>
        </p:spPr>
      </p:sp>
      <p:sp>
        <p:nvSpPr>
          <p:cNvPr id="21" name="Text 19"/>
          <p:cNvSpPr/>
          <p:nvPr/>
        </p:nvSpPr>
        <p:spPr>
          <a:xfrm>
            <a:off x="6507328" y="387705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2025年 建築基準法改正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07328" y="4315968"/>
            <a:ext cx="484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4号特例の縮小（新2号建築物）により、リフォーム時の構造・省エネ適合が義務化。設計・構造を扱える技術力のある専門工務店の必要性が急増。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55778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出典：令和5年住宅・土地統計調査（総務省統計局）／35組はゆずりえ実績（3か月）［実績］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STRENGTH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WHEREは、空き家営業の「入口」を宇宙から変えられる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WHERE × ゆずりえ｜空き家管理収益モデル（叩き台）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93247" y="64190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A6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499616"/>
            <a:ext cx="5391760" cy="1207008"/>
          </a:xfrm>
          <a:prstGeom prst="roundRect">
            <a:avLst>
              <a:gd name="adj" fmla="val 6061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737360"/>
            <a:ext cx="365760" cy="365760"/>
          </a:xfrm>
          <a:prstGeom prst="ellipse">
            <a:avLst/>
          </a:prstGeom>
          <a:solidFill>
            <a:srgbClr val="E9A63C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3312" y="1719072"/>
            <a:ext cx="429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候補地を自動抽出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353312" y="2103120"/>
            <a:ext cx="429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条件指定のみで、衛星データとAI解析により候補地を網羅的に自動抽出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3008" y="1499616"/>
            <a:ext cx="5391760" cy="1207008"/>
          </a:xfrm>
          <a:prstGeom prst="roundRect">
            <a:avLst>
              <a:gd name="adj" fmla="val 6061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07328" y="1737360"/>
            <a:ext cx="365760" cy="365760"/>
          </a:xfrm>
          <a:prstGeom prst="ellipse">
            <a:avLst/>
          </a:prstGeom>
          <a:solidFill>
            <a:srgbClr val="E9A63C"/>
          </a:solidFill>
          <a:ln/>
        </p:spPr>
      </p:sp>
      <p:sp>
        <p:nvSpPr>
          <p:cNvPr id="13" name="Text 11"/>
          <p:cNvSpPr/>
          <p:nvPr/>
        </p:nvSpPr>
        <p:spPr>
          <a:xfrm>
            <a:off x="6507328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19392" y="1719072"/>
            <a:ext cx="429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所有者を特定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019392" y="2103120"/>
            <a:ext cx="429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登記情報提供サービスと連携し、WHEREシステム内で所有者情報を一括取得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2944368"/>
            <a:ext cx="5391760" cy="1207008"/>
          </a:xfrm>
          <a:prstGeom prst="roundRect">
            <a:avLst>
              <a:gd name="adj" fmla="val 6061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3182112"/>
            <a:ext cx="365760" cy="365760"/>
          </a:xfrm>
          <a:prstGeom prst="ellipse">
            <a:avLst/>
          </a:prstGeom>
          <a:solidFill>
            <a:srgbClr val="E9A63C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53312" y="3163824"/>
            <a:ext cx="429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土地・建物を台帳化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353312" y="3547872"/>
            <a:ext cx="429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候補地を「土地管理」「建物管理」のデータベースへ自動登録・蓄積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33008" y="2944368"/>
            <a:ext cx="5391760" cy="1207008"/>
          </a:xfrm>
          <a:prstGeom prst="roundRect">
            <a:avLst>
              <a:gd name="adj" fmla="val 6061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07328" y="3182112"/>
            <a:ext cx="365760" cy="365760"/>
          </a:xfrm>
          <a:prstGeom prst="ellipse">
            <a:avLst/>
          </a:prstGeom>
          <a:solidFill>
            <a:srgbClr val="E9A63C"/>
          </a:solidFill>
          <a:ln/>
        </p:spPr>
      </p:sp>
      <p:sp>
        <p:nvSpPr>
          <p:cNvPr id="23" name="Text 21"/>
          <p:cNvSpPr/>
          <p:nvPr/>
        </p:nvSpPr>
        <p:spPr>
          <a:xfrm>
            <a:off x="6507328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19392" y="3163824"/>
            <a:ext cx="429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アプローチを記録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019392" y="3547872"/>
            <a:ext cx="429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DM・電話・訪問等の履歴とネクストアクションを一元管理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4443984"/>
            <a:ext cx="11057839" cy="1005840"/>
          </a:xfrm>
          <a:prstGeom prst="roundRect">
            <a:avLst>
              <a:gd name="adj" fmla="val 7273"/>
            </a:avLst>
          </a:prstGeom>
          <a:solidFill>
            <a:srgbClr val="13224A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8408" y="4617720"/>
            <a:ext cx="102348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探索 → 所有者特定 → 台帳管理 → 活動履歴まで、一つの情報基盤でつながっている。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78408" y="4974336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本提案は、この強みを変えるものではない。その先に「管理」を加える提案。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66928" y="55778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出典：WHERE基本機能紹介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YUZURIE STRENGTH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ゆずりえは、発見した空き家に「活用の出口」をつくる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WHERE × ゆずりえ｜空き家管理収益モデル（叩き台）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93247" y="64190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A6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499616"/>
            <a:ext cx="2572436" cy="2743200"/>
          </a:xfrm>
          <a:prstGeom prst="roundRect">
            <a:avLst>
              <a:gd name="adj" fmla="val 2844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737360"/>
            <a:ext cx="365760" cy="365760"/>
          </a:xfrm>
          <a:prstGeom prst="ellipse">
            <a:avLst/>
          </a:prstGeom>
          <a:solidFill>
            <a:srgbClr val="E9A63C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2231136"/>
            <a:ext cx="20969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条件確認済みの需要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4672" y="2816352"/>
            <a:ext cx="20969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A6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35組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04672" y="3273552"/>
            <a:ext cx="20969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希望地域・予算・家族条件が明確な具体的入居希望者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95396" y="1499616"/>
            <a:ext cx="2572436" cy="2743200"/>
          </a:xfrm>
          <a:prstGeom prst="roundRect">
            <a:avLst>
              <a:gd name="adj" fmla="val 2844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33140" y="1737360"/>
            <a:ext cx="365760" cy="365760"/>
          </a:xfrm>
          <a:prstGeom prst="ellipse">
            <a:avLst/>
          </a:prstGeom>
          <a:solidFill>
            <a:srgbClr val="E9A63C"/>
          </a:solidFill>
          <a:ln/>
        </p:spPr>
      </p:sp>
      <p:sp>
        <p:nvSpPr>
          <p:cNvPr id="14" name="Text 12"/>
          <p:cNvSpPr/>
          <p:nvPr/>
        </p:nvSpPr>
        <p:spPr>
          <a:xfrm>
            <a:off x="36331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33140" y="2231136"/>
            <a:ext cx="20969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再生・収支設計ツール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33140" y="2816352"/>
            <a:ext cx="20969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A6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633140" y="3273552"/>
            <a:ext cx="20969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概算見積・家賃・オーナー収益・将来贈与到達年数を一元計算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23864" y="1499616"/>
            <a:ext cx="2572436" cy="2743200"/>
          </a:xfrm>
          <a:prstGeom prst="roundRect">
            <a:avLst>
              <a:gd name="adj" fmla="val 2844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61608" y="1737360"/>
            <a:ext cx="365760" cy="365760"/>
          </a:xfrm>
          <a:prstGeom prst="ellipse">
            <a:avLst/>
          </a:prstGeom>
          <a:solidFill>
            <a:srgbClr val="E9A63C"/>
          </a:solidFill>
          <a:ln/>
        </p:spPr>
      </p:sp>
      <p:sp>
        <p:nvSpPr>
          <p:cNvPr id="20" name="Text 18"/>
          <p:cNvSpPr/>
          <p:nvPr/>
        </p:nvSpPr>
        <p:spPr>
          <a:xfrm>
            <a:off x="6461608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61608" y="2231136"/>
            <a:ext cx="20969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地域工務店ネットワーク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61608" y="2816352"/>
            <a:ext cx="20969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A6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実行力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461608" y="3273552"/>
            <a:ext cx="20969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管理・修繕・再生・解体・新築工事を現地で実行する担い手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52331" y="1499616"/>
            <a:ext cx="2572436" cy="2743200"/>
          </a:xfrm>
          <a:prstGeom prst="roundRect">
            <a:avLst>
              <a:gd name="adj" fmla="val 2844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90075" y="1737360"/>
            <a:ext cx="365760" cy="365760"/>
          </a:xfrm>
          <a:prstGeom prst="ellipse">
            <a:avLst/>
          </a:prstGeom>
          <a:solidFill>
            <a:srgbClr val="E9A63C"/>
          </a:solidFill>
          <a:ln/>
        </p:spPr>
      </p:sp>
      <p:sp>
        <p:nvSpPr>
          <p:cNvPr id="26" name="Text 24"/>
          <p:cNvSpPr/>
          <p:nvPr/>
        </p:nvSpPr>
        <p:spPr>
          <a:xfrm>
            <a:off x="9290075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90075" y="2231136"/>
            <a:ext cx="20969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認定制度・教育・伴走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290075" y="2816352"/>
            <a:ext cx="20969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A6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認定資格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9290075" y="3273552"/>
            <a:ext cx="20969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コンプライアンス厳守の認定資格、営業資料、初回遠隔伴走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449884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3224A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8408" y="4773168"/>
            <a:ext cx="102348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物件を見つける技術に、活用・入居・工事までの実行力を接続する。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二つの強みがつながると、発見が成約まで動き始める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WHERE × ゆずりえ｜空き家管理収益モデル（叩き台）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93247" y="64190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A6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536192"/>
            <a:ext cx="4892040" cy="3200400"/>
          </a:xfrm>
          <a:prstGeom prst="roundRect">
            <a:avLst>
              <a:gd name="adj" fmla="val 2286"/>
            </a:avLst>
          </a:prstGeom>
          <a:solidFill>
            <a:srgbClr val="13224A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755648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A6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WHERE｜宇宙の発見力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6968" y="221284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－　衛星・AIによる候補抽出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86968" y="276148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－　登記情報からの所有者特定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86968" y="33101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－　物件・活動データの蓄積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86968" y="385876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－　不動産契約と関係維持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32727" y="1536192"/>
            <a:ext cx="4892040" cy="3200400"/>
          </a:xfrm>
          <a:prstGeom prst="roundRect">
            <a:avLst>
              <a:gd name="adj" fmla="val 2286"/>
            </a:avLst>
          </a:prstGeom>
          <a:solidFill>
            <a:srgbClr val="FCF3E3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52767" y="1755648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76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ゆずりえ｜地上の実行力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52767" y="221284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－　条件確認済みの入居需要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52767" y="276148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－　将来贈与型の活用設計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052767" y="33101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－　地域工務店の実行力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052767" y="385876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－　収益計算・AI・認定研修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705856" y="2688336"/>
            <a:ext cx="786384" cy="786384"/>
          </a:xfrm>
          <a:prstGeom prst="ellipse">
            <a:avLst/>
          </a:prstGeom>
          <a:solidFill>
            <a:srgbClr val="E9A63C"/>
          </a:solidFill>
          <a:ln/>
        </p:spPr>
      </p:sp>
      <p:sp>
        <p:nvSpPr>
          <p:cNvPr id="19" name="Text 17"/>
          <p:cNvSpPr/>
          <p:nvPr/>
        </p:nvSpPr>
        <p:spPr>
          <a:xfrm>
            <a:off x="5705856" y="26883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431536" y="3529584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管理で接続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4937760"/>
            <a:ext cx="11057839" cy="896112"/>
          </a:xfrm>
          <a:prstGeom prst="roundRect">
            <a:avLst>
              <a:gd name="adj" fmla="val 8163"/>
            </a:avLst>
          </a:prstGeom>
          <a:solidFill>
            <a:srgbClr val="13224A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5138928"/>
            <a:ext cx="1032631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WHEREの発見力（宇宙）× ゆずりえの地域実行力（地上）＝ 放置空き家 循環プラットフォーム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管理契約が、オーナーとの関係と収益導線をつなぐ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WHERE × ゆずりえ｜空き家管理収益モデル（叩き台）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93247" y="64190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A6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1705813" cy="1371600"/>
          </a:xfrm>
          <a:prstGeom prst="roundRect">
            <a:avLst>
              <a:gd name="adj" fmla="val 5333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64208"/>
            <a:ext cx="170581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1956816"/>
            <a:ext cx="15960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空から発見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2304288"/>
            <a:ext cx="15960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衛星・AI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72741" y="197510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437333" y="1517904"/>
            <a:ext cx="1705813" cy="1371600"/>
          </a:xfrm>
          <a:prstGeom prst="roundRect">
            <a:avLst>
              <a:gd name="adj" fmla="val 5333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7333" y="1664208"/>
            <a:ext cx="170581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92197" y="1956816"/>
            <a:ext cx="15960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所有者特定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92197" y="2304288"/>
            <a:ext cx="15960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登記情報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43146" y="197510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07738" y="1517904"/>
            <a:ext cx="1705813" cy="1371600"/>
          </a:xfrm>
          <a:prstGeom prst="roundRect">
            <a:avLst>
              <a:gd name="adj" fmla="val 5333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07738" y="1664208"/>
            <a:ext cx="170581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62602" y="1956816"/>
            <a:ext cx="15960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管理契約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62602" y="2304288"/>
            <a:ext cx="15960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月8,000円台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13552" y="197510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78144" y="1517904"/>
            <a:ext cx="1705813" cy="1371600"/>
          </a:xfrm>
          <a:prstGeom prst="roundRect">
            <a:avLst>
              <a:gd name="adj" fmla="val 5333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8144" y="1664208"/>
            <a:ext cx="170581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33008" y="1956816"/>
            <a:ext cx="15960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月次巡回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33008" y="2304288"/>
            <a:ext cx="15960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写真報告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883957" y="197510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048549" y="1517904"/>
            <a:ext cx="1705813" cy="1371600"/>
          </a:xfrm>
          <a:prstGeom prst="roundRect">
            <a:avLst>
              <a:gd name="adj" fmla="val 5333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8549" y="1664208"/>
            <a:ext cx="170581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03413" y="1956816"/>
            <a:ext cx="15960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活用提案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03413" y="2304288"/>
            <a:ext cx="15960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修繕・再生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754362" y="197510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918954" y="1517904"/>
            <a:ext cx="1705813" cy="1371600"/>
          </a:xfrm>
          <a:prstGeom prst="roundRect">
            <a:avLst>
              <a:gd name="adj" fmla="val 5333"/>
            </a:avLst>
          </a:prstGeom>
          <a:solidFill>
            <a:srgbClr val="FCF3E3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18954" y="1664208"/>
            <a:ext cx="170581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973818" y="1956816"/>
            <a:ext cx="15960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成約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973818" y="2304288"/>
            <a:ext cx="15960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工事・取引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66928" y="3072384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13224A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6968" y="32552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E6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WHERE収益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86968" y="35295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工事金額の </a:t>
            </a:r>
            <a:pPr indent="0" marL="0">
              <a:buNone/>
            </a:pPr>
            <a:r>
              <a:rPr lang="en-US" sz="2600" b="1" dirty="0">
                <a:solidFill>
                  <a:srgbClr val="E9A6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3〜5％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327648" y="3072384"/>
            <a:ext cx="5297119" cy="1188720"/>
          </a:xfrm>
          <a:prstGeom prst="roundRect">
            <a:avLst>
              <a:gd name="adj" fmla="val 6154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01968" y="3291840"/>
            <a:ext cx="47484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修繕・再生・解体・新築・不動産取引まで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601968" y="3621024"/>
            <a:ext cx="47484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管理から生まれた工事・取引すべてが成果報酬の対象。紹介して終わりではなく、管理で関係を継続できる。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66928" y="4462272"/>
            <a:ext cx="11057839" cy="1243584"/>
          </a:xfrm>
          <a:prstGeom prst="roundRect">
            <a:avLst>
              <a:gd name="adj" fmla="val 5882"/>
            </a:avLst>
          </a:prstGeom>
          <a:solidFill>
            <a:srgbClr val="FBF0EF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9536" y="4645152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A33B32"/>
          </a:solidFill>
          <a:ln/>
        </p:spPr>
      </p:sp>
      <p:sp>
        <p:nvSpPr>
          <p:cNvPr id="43" name="Text 41"/>
          <p:cNvSpPr/>
          <p:nvPr/>
        </p:nvSpPr>
        <p:spPr>
          <a:xfrm>
            <a:off x="859536" y="46451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厳格な商流区分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59536" y="5029200"/>
            <a:ext cx="104726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成果報酬の適用対象は「WHEREが発見・接続し、オーナーとの関係を持った案件」に限る。工務店が自ら見つけて直接契約した自己開拓案件は対象外とし、システム上で厳密に区分・管理する。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66928" y="58704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管理契約の月額8,000円台は［仮説］、成果報酬3〜5％は［協議中］の条件。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AS ASSET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管理情報は、将来案件を蓄積する「収益資産」になる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WHERE × ゆずりえ｜空き家管理収益モデル（叩き台）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93247" y="64190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A6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117440" cy="2231136"/>
          </a:xfrm>
          <a:prstGeom prst="roundRect">
            <a:avLst>
              <a:gd name="adj" fmla="val 3279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64208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従来｜一度きりの探索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2048256"/>
            <a:ext cx="456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－　候補リストを抽出し、DMを発送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1248" y="2450592"/>
            <a:ext cx="456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－　今すぐ需要がなければ関係は終了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41248" y="2852928"/>
            <a:ext cx="456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－　物件情報が時間とともに陳腐化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41248" y="3291840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3B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短期・単発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21528" y="2450592"/>
            <a:ext cx="548640" cy="548640"/>
          </a:xfrm>
          <a:prstGeom prst="ellipse">
            <a:avLst/>
          </a:prstGeom>
          <a:solidFill>
            <a:srgbClr val="E9A63C"/>
          </a:solidFill>
          <a:ln/>
        </p:spPr>
      </p:sp>
      <p:sp>
        <p:nvSpPr>
          <p:cNvPr id="13" name="Text 11"/>
          <p:cNvSpPr/>
          <p:nvPr/>
        </p:nvSpPr>
        <p:spPr>
          <a:xfrm>
            <a:off x="5821528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07328" y="1481328"/>
            <a:ext cx="5117440" cy="2231136"/>
          </a:xfrm>
          <a:prstGeom prst="roundRect">
            <a:avLst>
              <a:gd name="adj" fmla="val 3279"/>
            </a:avLst>
          </a:prstGeom>
          <a:solidFill>
            <a:srgbClr val="FCF3E3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81648" y="1664208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76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本モデル｜管理でつながる探索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781648" y="2048256"/>
            <a:ext cx="456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－　オーナーと管理契約を結び関係を維持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781648" y="2450592"/>
            <a:ext cx="456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－　毎月、建物と意向の変化を把握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781648" y="2852928"/>
            <a:ext cx="456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－　最適なタイミングで提案・成約へ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781648" y="3291840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A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継続・蓄積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895344"/>
            <a:ext cx="11057839" cy="1828800"/>
          </a:xfrm>
          <a:prstGeom prst="roundRect">
            <a:avLst>
              <a:gd name="adj" fmla="val 4000"/>
            </a:avLst>
          </a:prstGeom>
          <a:solidFill>
            <a:srgbClr val="13224A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4078224"/>
            <a:ext cx="102897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A6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SUUMO等 大手カウンター構造からの転換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50976" y="4443984"/>
            <a:ext cx="102897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既存のSUUMO注文住宅カウンター等は、大手ハウスメーカーへ案件を誘導する構造。本モデルは、圧倒的に数の多い「地域工務店」をインフラ化する。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50976" y="5029200"/>
            <a:ext cx="102897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DCE6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空き家・空き地管理で土地とオーナー情報を早期に押さえ、土地確保から建築・活用までを工務店が主導する。初期の管理は「投資（持ち出し）」と捉え、成約時の成果報酬で高回収する仕組み。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SHIFT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入口を低くし、成果が生まれた後に収益を取る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WHERE × ゆずりえ｜空き家管理収益モデル（叩き台）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93247" y="64190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A6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5373472" cy="3200400"/>
          </a:xfrm>
          <a:prstGeom prst="roundRect">
            <a:avLst>
              <a:gd name="adj" fmla="val 2286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737360"/>
            <a:ext cx="475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現行・企業向け標準プラン（直販）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77824" y="22128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導入支援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52928" y="2212848"/>
            <a:ext cx="2776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75万円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77824" y="277977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52928" y="2779776"/>
            <a:ext cx="2776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30万円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77824" y="334670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初年度固定費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52928" y="3346704"/>
            <a:ext cx="2776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435万円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77824" y="4041648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5ID・週次MTG・高タッチ運用／税別・登記／DM費用を除く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51296" y="1517904"/>
            <a:ext cx="5373472" cy="3200400"/>
          </a:xfrm>
          <a:prstGeom prst="roundRect">
            <a:avLst>
              <a:gd name="adj" fmla="val 2286"/>
            </a:avLst>
          </a:prstGeom>
          <a:solidFill>
            <a:srgbClr val="FCF3E3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53167" y="1700784"/>
            <a:ext cx="1060704" cy="274320"/>
          </a:xfrm>
          <a:prstGeom prst="roundRect">
            <a:avLst>
              <a:gd name="adj" fmla="val 50000"/>
            </a:avLst>
          </a:prstGeom>
          <a:solidFill>
            <a:srgbClr val="E9A63C"/>
          </a:solidFill>
          <a:ln/>
        </p:spPr>
      </p:sp>
      <p:sp>
        <p:nvSpPr>
          <p:cNvPr id="17" name="Text 15"/>
          <p:cNvSpPr/>
          <p:nvPr/>
        </p:nvSpPr>
        <p:spPr>
          <a:xfrm>
            <a:off x="10253167" y="1700784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新設案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62192" y="1737360"/>
            <a:ext cx="363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76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認定工務店ネットワークプラン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62192" y="22128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月額システム料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37296" y="2212848"/>
            <a:ext cx="2776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3.3万円程度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62192" y="277977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成約時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37296" y="2779776"/>
            <a:ext cx="2776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76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工事金額の3〜5％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62192" y="334670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従量費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37296" y="3346704"/>
            <a:ext cx="2776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登記・DM実費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562192" y="4041648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追加ID（月2万円）の価格帯をベースに、ネットワーク運用原資を加味した仮案［協議中］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4937760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3224A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0976" y="5138928"/>
            <a:ext cx="10289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値下げではない。現行プランが価格的に届かない小規模事業者市場への「チャネル追加」。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1件あたり15万〜125万円。工事規模に応じて収益が積み上がる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WHERE × ゆずりえ｜空き家管理収益モデル（叩き台）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93247" y="64190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A6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931920" cy="384048"/>
          </a:xfrm>
          <a:prstGeom prst="roundRect">
            <a:avLst>
              <a:gd name="adj" fmla="val 19048"/>
            </a:avLst>
          </a:prstGeom>
          <a:solidFill>
            <a:srgbClr val="13224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463040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工事区分（1件あたり・仮定）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18304" y="1463040"/>
            <a:ext cx="2155850" cy="384048"/>
          </a:xfrm>
          <a:prstGeom prst="roundRect">
            <a:avLst>
              <a:gd name="adj" fmla="val 19048"/>
            </a:avLst>
          </a:prstGeom>
          <a:solidFill>
            <a:srgbClr val="4A5A7A"/>
          </a:solidFill>
          <a:ln/>
        </p:spPr>
      </p:sp>
      <p:sp>
        <p:nvSpPr>
          <p:cNvPr id="9" name="Text 7"/>
          <p:cNvSpPr/>
          <p:nvPr/>
        </p:nvSpPr>
        <p:spPr>
          <a:xfrm>
            <a:off x="4718304" y="1463040"/>
            <a:ext cx="21558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成果報酬 3％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093610" y="1463040"/>
            <a:ext cx="2155850" cy="384048"/>
          </a:xfrm>
          <a:prstGeom prst="roundRect">
            <a:avLst>
              <a:gd name="adj" fmla="val 19048"/>
            </a:avLst>
          </a:prstGeom>
          <a:solidFill>
            <a:srgbClr val="4A5A7A"/>
          </a:solidFill>
          <a:ln/>
        </p:spPr>
      </p:sp>
      <p:sp>
        <p:nvSpPr>
          <p:cNvPr id="11" name="Text 9"/>
          <p:cNvSpPr/>
          <p:nvPr/>
        </p:nvSpPr>
        <p:spPr>
          <a:xfrm>
            <a:off x="7093610" y="1463040"/>
            <a:ext cx="21558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成果報酬 4％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468917" y="1463040"/>
            <a:ext cx="2155850" cy="384048"/>
          </a:xfrm>
          <a:prstGeom prst="roundRect">
            <a:avLst>
              <a:gd name="adj" fmla="val 19048"/>
            </a:avLst>
          </a:prstGeom>
          <a:solidFill>
            <a:srgbClr val="E9A63C"/>
          </a:solidFill>
          <a:ln/>
        </p:spPr>
      </p:sp>
      <p:sp>
        <p:nvSpPr>
          <p:cNvPr id="13" name="Text 11"/>
          <p:cNvSpPr/>
          <p:nvPr/>
        </p:nvSpPr>
        <p:spPr>
          <a:xfrm>
            <a:off x="9468917" y="1463040"/>
            <a:ext cx="21558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成果報酬 5％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1956816"/>
            <a:ext cx="3931920" cy="786384"/>
          </a:xfrm>
          <a:prstGeom prst="roundRect">
            <a:avLst>
              <a:gd name="adj" fmla="val 9302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048256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再生・改修工事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" y="23774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工事金額 500万円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18304" y="1956816"/>
            <a:ext cx="215585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956816"/>
            <a:ext cx="21558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5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15万円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093610" y="1956816"/>
            <a:ext cx="215585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93610" y="1956816"/>
            <a:ext cx="21558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5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20万円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468917" y="1956816"/>
            <a:ext cx="215585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68917" y="1956816"/>
            <a:ext cx="21558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5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25万円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66928" y="2852928"/>
            <a:ext cx="3931920" cy="786384"/>
          </a:xfrm>
          <a:prstGeom prst="roundRect">
            <a:avLst>
              <a:gd name="adj" fmla="val 9302"/>
            </a:avLst>
          </a:prstGeom>
          <a:solidFill>
            <a:srgbClr val="FCF3E3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2944368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解体・建て替え新築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" y="327355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建物価格 2,500万円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18304" y="2852928"/>
            <a:ext cx="215585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18304" y="2852928"/>
            <a:ext cx="21558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75万円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7093610" y="2852928"/>
            <a:ext cx="215585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93610" y="2852928"/>
            <a:ext cx="21558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100万円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9468917" y="2852928"/>
            <a:ext cx="2155850" cy="786384"/>
          </a:xfrm>
          <a:prstGeom prst="roundRect">
            <a:avLst>
              <a:gd name="adj" fmla="val 9302"/>
            </a:avLst>
          </a:prstGeom>
          <a:solidFill>
            <a:srgbClr val="FCF3E3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68917" y="2852928"/>
            <a:ext cx="21558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125万円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566928" y="3803904"/>
            <a:ext cx="11057839" cy="1060704"/>
          </a:xfrm>
          <a:prstGeom prst="roundRect">
            <a:avLst>
              <a:gd name="adj" fmla="val 6897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0976" y="3968496"/>
            <a:ext cx="102897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現行プランの初年度固定費 435万円　＝　</a:t>
            </a:r>
            <a:pPr indent="0" marL="0">
              <a:buNone/>
            </a:pPr>
            <a:r>
              <a:rPr lang="en-US" sz="165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成果報酬5％なら新築4件</a:t>
            </a:r>
            <a:pPr indent="0" marL="0">
              <a:buNone/>
            </a:pPr>
            <a:r>
              <a:rPr lang="en-US" sz="145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／　3％なら6件程度の成約に相当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950976" y="4370832"/>
            <a:ext cx="102897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空き家はすべてが再生に向くわけではない。状態・立地・オーナーの希望によっては、解体して新築へ建て替える可能性がある。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5010912"/>
            <a:ext cx="11057839" cy="1060704"/>
          </a:xfrm>
          <a:prstGeom prst="roundRect">
            <a:avLst>
              <a:gd name="adj" fmla="val 6897"/>
            </a:avLst>
          </a:prstGeom>
          <a:solidFill>
            <a:srgbClr val="13224A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0976" y="5138928"/>
            <a:ext cx="102897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収益機会は新築だけではない。小修繕（数十万円）→ 再生・改修（数百万円）→ 解体 → 建て替え新築（2,500万円規模）まで、管理から生まれる工事すべてが階段状に成果報酬の対象になる。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66928" y="614476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計算：工事金額 × 3〜5％。再生工事500万円、新築の建物価格2,500万円はいずれも本企画の［仮定］。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100社展開で、年間1億円規模が見える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WHERE × ゆずりえ｜空き家管理収益モデル（叩き台）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93247" y="64190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A6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13224A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481328"/>
            <a:ext cx="10289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試算前提｜100社　｜　月額3.3万円　｜　新築2,500万円　｜　成果報酬3〜5％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249424"/>
            <a:ext cx="5373472" cy="2724912"/>
          </a:xfrm>
          <a:prstGeom prst="roundRect">
            <a:avLst>
              <a:gd name="adj" fmla="val 2685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450592"/>
            <a:ext cx="478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1社あたり 年0.5件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9536" y="2761488"/>
            <a:ext cx="478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新築 50件／年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32369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月額収入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95728" y="3200400"/>
            <a:ext cx="325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3,960万円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9536" y="3639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成果収入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95728" y="3602736"/>
            <a:ext cx="325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3,750万〜6,250万円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9536" y="4041648"/>
            <a:ext cx="478825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114800"/>
            <a:ext cx="449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合計 年間収益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05840" y="4352544"/>
            <a:ext cx="449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7,710万〜1億210万円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251296" y="2249424"/>
            <a:ext cx="5373472" cy="2724912"/>
          </a:xfrm>
          <a:prstGeom prst="roundRect">
            <a:avLst>
              <a:gd name="adj" fmla="val 2685"/>
            </a:avLst>
          </a:prstGeom>
          <a:solidFill>
            <a:srgbClr val="FCF3E3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43904" y="2450592"/>
            <a:ext cx="478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76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1社あたり 年1件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43904" y="2761488"/>
            <a:ext cx="478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新築 100件／年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43904" y="32369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月額収入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80096" y="3200400"/>
            <a:ext cx="325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3,960万円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43904" y="3639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成果収入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80096" y="3602736"/>
            <a:ext cx="325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7,500万〜1億2,500万円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43904" y="4041648"/>
            <a:ext cx="478825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690208" y="4114800"/>
            <a:ext cx="449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合計 年間収益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690208" y="4352544"/>
            <a:ext cx="449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1億1,460万〜1億6,460万円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66928" y="513892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確定予測ではない事業シミュレーション。小修繕・リフォーム再生・解体・不動産仲介の収益は含めていない。本実証で各種転換率の実測値を得て精度を高める。［試算］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FOR ALL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管理を中心に、4者の利益が同時に成立する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WHERE × ゆずりえ｜空き家管理収益モデル（叩き台）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93247" y="64190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A6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11057839" cy="768096"/>
          </a:xfrm>
          <a:prstGeom prst="roundRect">
            <a:avLst>
              <a:gd name="adj" fmla="val 9524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682496"/>
            <a:ext cx="2194560" cy="438912"/>
          </a:xfrm>
          <a:prstGeom prst="roundRect">
            <a:avLst>
              <a:gd name="adj" fmla="val 20833"/>
            </a:avLst>
          </a:prstGeom>
          <a:solidFill>
            <a:srgbClr val="13224A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68249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WHERE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82112" y="1664208"/>
            <a:ext cx="813175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管理物件の蓄積、オーナーとの継続接点、3〜5％の成約収益、不動産取引機会、「買えないデータ」の自社蓄積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414016"/>
            <a:ext cx="11057839" cy="768096"/>
          </a:xfrm>
          <a:prstGeom prst="roundRect">
            <a:avLst>
              <a:gd name="adj" fmla="val 9524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" y="2578608"/>
            <a:ext cx="2194560" cy="438912"/>
          </a:xfrm>
          <a:prstGeom prst="roundRect">
            <a:avLst>
              <a:gd name="adj" fmla="val 20833"/>
            </a:avLst>
          </a:prstGeom>
          <a:solidFill>
            <a:srgbClr val="2C7A4B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257860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地域工務店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182112" y="2560320"/>
            <a:ext cx="813175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管理料還元、土地の早期確保、修繕・再生・解体・新築工事の継続受注、地域密着の信頼獲得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310128"/>
            <a:ext cx="11057839" cy="768096"/>
          </a:xfrm>
          <a:prstGeom prst="roundRect">
            <a:avLst>
              <a:gd name="adj" fmla="val 9524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3474720"/>
            <a:ext cx="2194560" cy="438912"/>
          </a:xfrm>
          <a:prstGeom prst="roundRect">
            <a:avLst>
              <a:gd name="adj" fmla="val 20833"/>
            </a:avLst>
          </a:prstGeom>
          <a:solidFill>
            <a:srgbClr val="A8761C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34747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所有者（オーナー）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182112" y="3456432"/>
            <a:ext cx="813175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建物の保全、月次写真報告、売却以外の選択肢、固定資産税増額リスクの回避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206240"/>
            <a:ext cx="11057839" cy="768096"/>
          </a:xfrm>
          <a:prstGeom prst="roundRect">
            <a:avLst>
              <a:gd name="adj" fmla="val 9524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" y="4370832"/>
            <a:ext cx="2194560" cy="438912"/>
          </a:xfrm>
          <a:prstGeom prst="roundRect">
            <a:avLst>
              <a:gd name="adj" fmla="val 20833"/>
            </a:avLst>
          </a:prstGeom>
          <a:solidFill>
            <a:srgbClr val="4A5A7A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" y="437083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入居者・地域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182112" y="4352544"/>
            <a:ext cx="813175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放置空き家の解消、地域防犯・景観の維持、住宅ローンに頼りすぎない戸建て居住の選択肢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5138928"/>
            <a:ext cx="11057839" cy="841248"/>
          </a:xfrm>
          <a:prstGeom prst="roundRect">
            <a:avLst>
              <a:gd name="adj" fmla="val 8696"/>
            </a:avLst>
          </a:prstGeom>
          <a:solidFill>
            <a:srgbClr val="FCF3E3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5138928"/>
            <a:ext cx="10289743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76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ゆずりえ本部は工事紹介料・仲介料を取らない。認定資格・研修・アプリ・コンプライアンス基盤の提供に特化する。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ONE-YEAR PILOT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既存4地域で1年実証し、2年目から全国展開へ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WHERE × ゆずりえ｜空き家管理収益モデル（叩き台）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93247" y="64190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A6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499616"/>
            <a:ext cx="2586152" cy="2395728"/>
          </a:xfrm>
          <a:prstGeom prst="roundRect">
            <a:avLst>
              <a:gd name="adj" fmla="val 3053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700784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13224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70078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2157984"/>
            <a:ext cx="211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設計・開始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25603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料金・契約・役割分担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共通KPI・巡回運用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手動／CSV連携フロー確定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90824" y="1499616"/>
            <a:ext cx="2586152" cy="2395728"/>
          </a:xfrm>
          <a:prstGeom prst="roundRect">
            <a:avLst>
              <a:gd name="adj" fmla="val 3053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28568" y="1700784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13224A"/>
          </a:solidFill>
          <a:ln/>
        </p:spPr>
      </p:sp>
      <p:sp>
        <p:nvSpPr>
          <p:cNvPr id="13" name="Text 11"/>
          <p:cNvSpPr/>
          <p:nvPr/>
        </p:nvSpPr>
        <p:spPr>
          <a:xfrm>
            <a:off x="3628568" y="170078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28568" y="2157984"/>
            <a:ext cx="211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管理在庫の形成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28568" y="25603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候補抽出・所有者接触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管理契約の蓄積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 8棟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4720" y="1499616"/>
            <a:ext cx="2586152" cy="2395728"/>
          </a:xfrm>
          <a:prstGeom prst="roundRect">
            <a:avLst>
              <a:gd name="adj" fmla="val 3053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52464" y="1700784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13224A"/>
          </a:solidFill>
          <a:ln/>
        </p:spPr>
      </p:sp>
      <p:sp>
        <p:nvSpPr>
          <p:cNvPr id="18" name="Text 16"/>
          <p:cNvSpPr/>
          <p:nvPr/>
        </p:nvSpPr>
        <p:spPr>
          <a:xfrm>
            <a:off x="6452464" y="170078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52464" y="2157984"/>
            <a:ext cx="211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提案・成約検証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52464" y="25603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巡回情報から修繕・再生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解体・新築を提案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成約を検証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38615" y="1499616"/>
            <a:ext cx="2586152" cy="2395728"/>
          </a:xfrm>
          <a:prstGeom prst="roundRect">
            <a:avLst>
              <a:gd name="adj" fmla="val 3053"/>
            </a:avLst>
          </a:prstGeom>
          <a:solidFill>
            <a:srgbClr val="FCF3E3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76359" y="1700784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E9A63C"/>
          </a:solidFill>
          <a:ln/>
        </p:spPr>
      </p:sp>
      <p:sp>
        <p:nvSpPr>
          <p:cNvPr id="23" name="Text 21"/>
          <p:cNvSpPr/>
          <p:nvPr/>
        </p:nvSpPr>
        <p:spPr>
          <a:xfrm>
            <a:off x="9276359" y="170078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276359" y="2157984"/>
            <a:ext cx="211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収益性判定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76359" y="25603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成約率・工事単価・収益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全国展開条件を決定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 17棟・3成約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4133088"/>
            <a:ext cx="11057839" cy="1060704"/>
          </a:xfrm>
          <a:prstGeom prst="roundRect">
            <a:avLst>
              <a:gd name="adj" fmla="val 6897"/>
            </a:avLst>
          </a:prstGeom>
          <a:solidFill>
            <a:srgbClr val="13224A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A6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共通KPI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32688" y="4590288"/>
            <a:ext cx="103263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候補数 → 所有者接触 → 管理契約 → 活用提案 → 見積 → 工事成約 → WHERE成果収益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6928" y="535838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1年目も実証地域だけで止めず、条件が整った別地域の工務店を段階的に追加する。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023360"/>
            <a:ext cx="3291840" cy="3291840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宇宙から発見した空き家を、</a:t>
            </a:r>
            <a:endParaRPr lang="en-US" sz="32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全国の収益資産へ。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239572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6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空き家検索ツールの提供会社から、管理・建築・不動産収益まで生み出すプラットフォームへ。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303580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A6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本日、ご協議・合意を開始したいこと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3493008"/>
            <a:ext cx="292608" cy="292608"/>
          </a:xfrm>
          <a:prstGeom prst="ellipse">
            <a:avLst/>
          </a:prstGeom>
          <a:solidFill>
            <a:srgbClr val="E9A63C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3493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" y="345643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既存4地域（3〜4市）・1年間の限定実証の共同設計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986784"/>
            <a:ext cx="292608" cy="292608"/>
          </a:xfrm>
          <a:prstGeom prst="ellipse">
            <a:avLst/>
          </a:prstGeom>
          <a:solidFill>
            <a:srgbClr val="E9A63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986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24128" y="395020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実証期間の料金体系（月額3.3万円案）と成果報酬3〜5％の適用・除外条件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4480560"/>
            <a:ext cx="292608" cy="292608"/>
          </a:xfrm>
          <a:prstGeom prst="ellipse">
            <a:avLst/>
          </a:prstGeom>
          <a:solidFill>
            <a:srgbClr val="E9A63C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4480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24128" y="4443984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オーナー契約・物件台帳データ（買えないデータ）の帰属と役割分担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4974336"/>
            <a:ext cx="292608" cy="292608"/>
          </a:xfrm>
          <a:prstGeom prst="ellipse">
            <a:avLst/>
          </a:prstGeom>
          <a:solidFill>
            <a:srgbClr val="E9A63C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974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4128" y="493776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専門家（弁護士・宅建士）を交えた法務・コンプライアンス整理と契約書式の作成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5468112"/>
            <a:ext cx="292608" cy="292608"/>
          </a:xfrm>
          <a:prstGeom prst="ellipse">
            <a:avLst/>
          </a:prstGeom>
          <a:solidFill>
            <a:srgbClr val="E9A63C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5468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24128" y="543153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共通KPI目標と、2年目の全国展開・撤退に関する合意基準（GO／調整／再考）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" y="62362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株式会社Aether ゆずりえプロジェクト　｜　2026年7月｜DRAFT（協議用叩き台）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2026-07-31T05:22:09Z</dcterms:created>
  <dcterms:modified xsi:type="dcterms:W3CDTF">2026-07-31T05:22:09Z</dcterms:modified>
</cp:coreProperties>
</file>